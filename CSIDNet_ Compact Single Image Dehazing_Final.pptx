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Lato Light" panose="020F0502020204030203" pitchFamily="34" charset="0"/>
      <p:regular r:id="rId17"/>
      <p:bold r:id="rId18"/>
      <p:italic r:id="rId19"/>
      <p:boldItalic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Poppins SemiBold" panose="000007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F076DB-016F-452A-9DB9-3719937E2FB2}">
  <a:tblStyle styleId="{96F076DB-016F-452A-9DB9-3719937E2FB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351657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A3E0"/>
                </a:solidFill>
                <a:latin typeface="Lato"/>
                <a:ea typeface="Lato"/>
                <a:cs typeface="Lato"/>
                <a:sym typeface="Lato"/>
              </a:rPr>
              <a:t>COURSE PROJECT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008882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CSIDNet</a:t>
            </a:r>
            <a:r>
              <a:rPr lang="en-US" sz="480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: Compact Single Image Dehazing Network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540323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For Outdoor Scene Enhancement using Deep Learning</a:t>
            </a:r>
            <a:endParaRPr dirty="0"/>
          </a:p>
        </p:txBody>
      </p:sp>
      <p:sp>
        <p:nvSpPr>
          <p:cNvPr id="89" name="Google Shape;89;p13"/>
          <p:cNvSpPr/>
          <p:nvPr/>
        </p:nvSpPr>
        <p:spPr>
          <a:xfrm>
            <a:off x="5381625" y="4477494"/>
            <a:ext cx="1428750" cy="381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6410325"/>
            <a:ext cx="1276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IP &amp; ML Class Project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1229975" y="6410325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1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4896594"/>
            <a:ext cx="11049000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Course: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Image Processing </a:t>
            </a: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with 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Machine Learning(IPML) (DA 526)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571500" y="5201394"/>
            <a:ext cx="11049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Based on Research by Teena Sharma, Isha Agrawal, &amp; Nishchal K. Verma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Group Members : </a:t>
            </a: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Shreyansh Gupta &amp; Partha Sarathi Roychaudhuri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922" y="1106593"/>
            <a:ext cx="3176589" cy="2146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0897" y="1052512"/>
            <a:ext cx="2600041" cy="2254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2425" y="3479571"/>
            <a:ext cx="5238750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1229975" y="6410325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2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284994" y="1259852"/>
            <a:ext cx="1980247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A3E0"/>
                </a:solidFill>
                <a:latin typeface="Poppins"/>
                <a:ea typeface="Poppins"/>
                <a:cs typeface="Poppins"/>
                <a:sym typeface="Poppins"/>
              </a:rPr>
              <a:t>Non-Linear Noise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270608" y="1838344"/>
            <a:ext cx="283440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Haze is signal-dependent noise that attenuates pixel intensity based on scene depth.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3516913" y="1186344"/>
            <a:ext cx="198024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A3E0"/>
                </a:solidFill>
                <a:latin typeface="Poppins"/>
                <a:ea typeface="Poppins"/>
                <a:cs typeface="Poppins"/>
                <a:sym typeface="Poppins"/>
              </a:rPr>
              <a:t>Vision Impact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3516913" y="1670929"/>
            <a:ext cx="2359771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Obscures clarity for critical tasks: Autonomous driving, Object Tracking, and Remote Sensing.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415290" y="3551915"/>
            <a:ext cx="488061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A3E0"/>
                </a:solidFill>
                <a:latin typeface="Poppins"/>
                <a:ea typeface="Poppins"/>
                <a:cs typeface="Poppins"/>
                <a:sym typeface="Poppins"/>
              </a:rPr>
              <a:t>Single Image Limitation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415290" y="3952630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Unlike multi-image methods, single image dehazing lacks depth information, making it ill-posed and challenging.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415290" y="292314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CHALLENGE</a:t>
            </a:r>
            <a:r>
              <a:rPr lang="en-US" sz="3150" dirty="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</a:t>
            </a:r>
            <a:r>
              <a:rPr lang="en-US" sz="3150" b="0" i="0" u="none" strike="noStrike" cap="none" dirty="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OF ATMOSPHERIC HAZE</a:t>
            </a:r>
            <a:endParaRPr dirty="0"/>
          </a:p>
        </p:txBody>
      </p:sp>
      <p:sp>
        <p:nvSpPr>
          <p:cNvPr id="114" name="Google Shape;114;p14"/>
          <p:cNvSpPr/>
          <p:nvPr/>
        </p:nvSpPr>
        <p:spPr>
          <a:xfrm>
            <a:off x="270608" y="246630"/>
            <a:ext cx="76200" cy="6000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A759AE-BE60-7A3D-D5FE-C32A8F9F5D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434284"/>
            <a:ext cx="5757765" cy="40905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6410325"/>
            <a:ext cx="809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Related Work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1229975" y="6410325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3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00125" y="2414587"/>
            <a:ext cx="4810125" cy="84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Dark Channel Prior (DCP):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Based on the statistical observation that local patches in haze-free images have low intensity in at least one channel.</a:t>
            </a:r>
          </a:p>
          <a:p>
            <a:pPr lvl="0"/>
            <a:r>
              <a:rPr lang="en-US" sz="1100" b="1" i="0" u="none" strike="noStrike" cap="none" dirty="0">
                <a:solidFill>
                  <a:srgbClr val="002060"/>
                </a:solidFill>
                <a:latin typeface="Lato"/>
                <a:ea typeface="Lato"/>
                <a:cs typeface="Lato"/>
                <a:sym typeface="Lato"/>
              </a:rPr>
              <a:t>Boundary Constraint and Contextual Regularization(BCCR): </a:t>
            </a:r>
            <a:r>
              <a:rPr lang="en-US" sz="1100" i="0" u="none" strike="noStrike" cap="none" dirty="0">
                <a:solidFill>
                  <a:srgbClr val="002060"/>
                </a:solidFill>
                <a:latin typeface="Lato"/>
                <a:ea typeface="Lato"/>
                <a:cs typeface="Lato"/>
                <a:sym typeface="Lato"/>
              </a:rPr>
              <a:t>Based on </a:t>
            </a:r>
            <a:r>
              <a:rPr lang="en-US" sz="1100" dirty="0"/>
              <a:t>the assumption that haze-free images have better contrast than hazy ones. </a:t>
            </a:r>
            <a:endParaRPr lang="en-US" sz="1100" b="1" i="0" u="none" strike="noStrike" cap="none" dirty="0">
              <a:solidFill>
                <a:srgbClr val="00206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1000125" y="3338512"/>
            <a:ext cx="481012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1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Color Attenuation Prior: C</a:t>
            </a:r>
            <a:r>
              <a:rPr lang="en-US" sz="1100" dirty="0"/>
              <a:t>alculate the scene depth and then estimated the transmission </a:t>
            </a:r>
            <a:r>
              <a:rPr lang="en-US" sz="1100" dirty="0" err="1"/>
              <a:t>map.However</a:t>
            </a:r>
            <a:r>
              <a:rPr lang="en-US" sz="1100" dirty="0"/>
              <a:t>, it is not always accurate, and further calculation of </a:t>
            </a:r>
            <a:r>
              <a:rPr lang="en-US" sz="1100" dirty="0" err="1"/>
              <a:t>airlight</a:t>
            </a:r>
            <a:r>
              <a:rPr lang="en-US" sz="1100" dirty="0"/>
              <a:t> using this leads to accumulation and amplification of error</a:t>
            </a:r>
            <a:endParaRPr lang="en-US" sz="1100" b="0" i="0" u="none" strike="noStrike" cap="none" dirty="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1000125" y="4033837"/>
            <a:ext cx="481012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Deep Learning: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Transition from manual priors to learned features (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DehazeNet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,MSCNN, AOD-Net). </a:t>
            </a:r>
            <a:endParaRPr sz="1100"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1000125" y="4524791"/>
            <a:ext cx="481012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Current Limitations: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 computational cost and requirement of massive datasets (millions of images).</a:t>
            </a:r>
            <a:endParaRPr sz="1100"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EVOLUTION OF DEHAZING METHODS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773563-E818-E2E8-29E0-7AFD1E5447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850" y="2243138"/>
            <a:ext cx="5775306" cy="3073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71500" y="6410325"/>
            <a:ext cx="1123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CSIDNet Overview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1229975" y="6410325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4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1919287"/>
            <a:ext cx="52387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 dirty="0">
                <a:solidFill>
                  <a:srgbClr val="00A3E0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dirty="0"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3652837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CONV LAYERS</a:t>
            </a:r>
            <a:endParaRPr dirty="0"/>
          </a:p>
        </p:txBody>
      </p:sp>
      <p:sp>
        <p:nvSpPr>
          <p:cNvPr id="146" name="Google Shape;146;p16"/>
          <p:cNvSpPr txBox="1"/>
          <p:nvPr/>
        </p:nvSpPr>
        <p:spPr>
          <a:xfrm>
            <a:off x="6810375" y="2876550"/>
            <a:ext cx="48101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Compact Architecture: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Only three convolutional layers designed for real-time mobile/edge applications.</a:t>
            </a:r>
            <a:endParaRPr dirty="0"/>
          </a:p>
        </p:txBody>
      </p:sp>
      <p:sp>
        <p:nvSpPr>
          <p:cNvPr id="147" name="Google Shape;147;p16"/>
          <p:cNvSpPr txBox="1"/>
          <p:nvPr/>
        </p:nvSpPr>
        <p:spPr>
          <a:xfrm>
            <a:off x="6810375" y="3571875"/>
            <a:ext cx="48101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Efficiency: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Successfully trained on just 200 images without diminishing performance.</a:t>
            </a:r>
            <a:endParaRPr dirty="0"/>
          </a:p>
        </p:txBody>
      </p:sp>
      <p:sp>
        <p:nvSpPr>
          <p:cNvPr id="148" name="Google Shape;148;p16"/>
          <p:cNvSpPr txBox="1"/>
          <p:nvPr/>
        </p:nvSpPr>
        <p:spPr>
          <a:xfrm>
            <a:off x="6810375" y="4267200"/>
            <a:ext cx="48101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Run-time Mastery: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Achieves faster inference than AOD-Net and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DehazeNet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52" name="Google Shape;152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PROPOSED INNOVATION: CSIDNET</a:t>
            </a:r>
            <a:endParaRPr dirty="0"/>
          </a:p>
        </p:txBody>
      </p:sp>
      <p:sp>
        <p:nvSpPr>
          <p:cNvPr id="153" name="Google Shape;153;p16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296691"/>
            <a:ext cx="5238750" cy="851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11229975" y="6410325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5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381750" y="2496591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CSIDNet extracts a 5-channel feature tensor from the input hazy image by concatenating raw RGB with learned priors: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381750" y="4338935"/>
            <a:ext cx="5238750" cy="3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Dark Channel (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Idark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Captures haze thickness via local minima.</a:t>
            </a:r>
            <a:endParaRPr dirty="0"/>
          </a:p>
        </p:txBody>
      </p:sp>
      <p:sp>
        <p:nvSpPr>
          <p:cNvPr id="167" name="Google Shape;167;p17"/>
          <p:cNvSpPr txBox="1"/>
          <p:nvPr/>
        </p:nvSpPr>
        <p:spPr>
          <a:xfrm>
            <a:off x="6381750" y="5240476"/>
            <a:ext cx="5238750" cy="65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Illumination (IY):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Y-channel from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YCbCr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domain, highlighting haze-affected luminance.</a:t>
            </a:r>
            <a:endParaRPr dirty="0"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0" y="3582441"/>
            <a:ext cx="4667250" cy="28024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FEATURE ENGINEERING: PRIOR INTEGRATION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6EB08E-ED89-EF9A-FB8E-50ABB24966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69" y="1852138"/>
            <a:ext cx="4848902" cy="9145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86BCF1-1AF4-1B46-DC42-EC22E2F6EF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373" y="3657337"/>
            <a:ext cx="5925377" cy="12765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04975"/>
            <a:ext cx="34924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704975"/>
            <a:ext cx="3492549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1704975"/>
            <a:ext cx="34924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571500" y="6410325"/>
            <a:ext cx="1152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Architecture Part 2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1229975" y="6410325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6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66775" y="2647950"/>
            <a:ext cx="304694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A3E0"/>
                </a:solidFill>
                <a:latin typeface="Poppins"/>
                <a:ea typeface="Poppins"/>
                <a:cs typeface="Poppins"/>
                <a:sym typeface="Poppins"/>
              </a:rPr>
              <a:t>Pre-activation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66775" y="3114675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Fully pre-activated stage with Batch Normalization (BN) and Leaky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ReLU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stabilize initial gradients.</a:t>
            </a:r>
            <a:endParaRPr dirty="0"/>
          </a:p>
        </p:txBody>
      </p:sp>
      <p:sp>
        <p:nvSpPr>
          <p:cNvPr id="186" name="Google Shape;186;p18"/>
          <p:cNvSpPr txBox="1"/>
          <p:nvPr/>
        </p:nvSpPr>
        <p:spPr>
          <a:xfrm>
            <a:off x="4644925" y="264795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A3E0"/>
                </a:solidFill>
                <a:latin typeface="Poppins"/>
                <a:ea typeface="Poppins"/>
                <a:cs typeface="Poppins"/>
                <a:sym typeface="Poppins"/>
              </a:rPr>
              <a:t>Core Conv Layers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4644925" y="311467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Layer 1 &amp; 2: 16 filters (3x3 kernels).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Layer 3: 5 output channels mapped to reconstruction space.</a:t>
            </a:r>
            <a:endParaRPr dirty="0"/>
          </a:p>
        </p:txBody>
      </p:sp>
      <p:sp>
        <p:nvSpPr>
          <p:cNvPr id="188" name="Google Shape;188;p18"/>
          <p:cNvSpPr txBox="1"/>
          <p:nvPr/>
        </p:nvSpPr>
        <p:spPr>
          <a:xfrm>
            <a:off x="8423225" y="2647950"/>
            <a:ext cx="304694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A3E0"/>
                </a:solidFill>
                <a:latin typeface="Poppins"/>
                <a:ea typeface="Poppins"/>
                <a:cs typeface="Poppins"/>
                <a:sym typeface="Poppins"/>
              </a:rPr>
              <a:t>Skip Connection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423225" y="3114675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Global skip connection between input and output to preserve textural details and facilitate residual learning.</a:t>
            </a:r>
            <a:endParaRPr dirty="0"/>
          </a:p>
        </p:txBody>
      </p:sp>
      <p:sp>
        <p:nvSpPr>
          <p:cNvPr id="193" name="Google Shape;193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PROCESSING PIPELINE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C721B-19CA-A786-EE9D-45B98D256B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781550"/>
            <a:ext cx="2578100" cy="361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A320D7-D70C-2AF3-69A3-E18F211177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5174642"/>
            <a:ext cx="2288540" cy="397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916D98-7A51-29A2-1DBB-F0A2D83530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4892" y="4781550"/>
            <a:ext cx="3282063" cy="3133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F3D74F-A725-2F62-4795-FE1C72178D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7950" y="4774948"/>
            <a:ext cx="2948962" cy="3462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CAAEA9-008F-5DB2-97CC-6BF8B255EDB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9390" y="5121206"/>
            <a:ext cx="2164130" cy="360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1" name="Google Shape;201;p19"/>
          <p:cNvGraphicFramePr/>
          <p:nvPr>
            <p:extLst>
              <p:ext uri="{D42A27DB-BD31-4B8C-83A1-F6EECF244321}">
                <p14:modId xmlns:p14="http://schemas.microsoft.com/office/powerpoint/2010/main" val="2574257935"/>
              </p:ext>
            </p:extLst>
          </p:nvPr>
        </p:nvGraphicFramePr>
        <p:xfrm>
          <a:off x="571500" y="2024062"/>
          <a:ext cx="11049000" cy="3981425"/>
        </p:xfrm>
        <a:graphic>
          <a:graphicData uri="http://schemas.openxmlformats.org/drawingml/2006/table">
            <a:tbl>
              <a:tblPr firstRow="1" bandRow="1">
                <a:noFill/>
                <a:tableStyleId>{96F076DB-016F-452A-9DB9-3719937E2FB2}</a:tableStyleId>
              </a:tblPr>
              <a:tblGrid>
                <a:gridCol w="403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Setting / 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Dataset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RESIDE - Outdoor Training Set (OTS)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Training Samples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1000 randomly selected images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Optimizer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Adam (β1 = 0.9, β2 = 0.999)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Loss Function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Hybrid Error 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Epochs / Iterations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 Iterations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Training 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~45 Minutes (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Colab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T4 GPU)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3" name="Google Shape;203;p19"/>
          <p:cNvSpPr txBox="1"/>
          <p:nvPr/>
        </p:nvSpPr>
        <p:spPr>
          <a:xfrm>
            <a:off x="11229975" y="6410325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7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71500" y="3171825"/>
            <a:ext cx="40316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4603105" y="3171825"/>
            <a:ext cx="7017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571500" y="3733800"/>
            <a:ext cx="40316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4603105" y="3733800"/>
            <a:ext cx="7017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571500" y="4305300"/>
            <a:ext cx="40316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4603105" y="4305300"/>
            <a:ext cx="7017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571500" y="4867275"/>
            <a:ext cx="40316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4603105" y="4867275"/>
            <a:ext cx="7017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71500" y="5429250"/>
            <a:ext cx="40316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4603105" y="5429250"/>
            <a:ext cx="7017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571500" y="5991225"/>
            <a:ext cx="40316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4603105" y="5991225"/>
            <a:ext cx="7017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TRAINING METHODOLOGY</a:t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571500" y="2382142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Peak Signal to Noise Ratio (PSNR) on SOTS Dataset</a:t>
            </a:r>
            <a:endParaRPr dirty="0"/>
          </a:p>
        </p:txBody>
      </p:sp>
      <p:sp>
        <p:nvSpPr>
          <p:cNvPr id="228" name="Google Shape;228;p20"/>
          <p:cNvSpPr txBox="1"/>
          <p:nvPr/>
        </p:nvSpPr>
        <p:spPr>
          <a:xfrm>
            <a:off x="11229975" y="6410325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8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QUANTITATIVE BENCHMARKING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D3AD2-F7AD-2668-90B6-938B0503246B}"/>
              </a:ext>
            </a:extLst>
          </p:cNvPr>
          <p:cNvSpPr txBox="1"/>
          <p:nvPr/>
        </p:nvSpPr>
        <p:spPr>
          <a:xfrm>
            <a:off x="1026160" y="5120640"/>
            <a:ext cx="10292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CSIDNET Performs better without relying on a heavier architecture supporting single image dehazing with much faster inference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52575"/>
            <a:ext cx="53816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552575"/>
            <a:ext cx="53816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9740" y="5647372"/>
            <a:ext cx="4752340" cy="100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5800725"/>
            <a:ext cx="5238750" cy="849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/>
          <p:nvPr/>
        </p:nvSpPr>
        <p:spPr>
          <a:xfrm>
            <a:off x="571500" y="5402360"/>
            <a:ext cx="5238750" cy="18465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 flipV="1">
            <a:off x="619125" y="6096000"/>
            <a:ext cx="519112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Original Hazy Input</a:t>
            </a:r>
            <a:endParaRPr dirty="0"/>
          </a:p>
        </p:txBody>
      </p:sp>
      <p:sp>
        <p:nvSpPr>
          <p:cNvPr id="247" name="Google Shape;247;p21"/>
          <p:cNvSpPr/>
          <p:nvPr/>
        </p:nvSpPr>
        <p:spPr>
          <a:xfrm>
            <a:off x="6096000" y="5402360"/>
            <a:ext cx="5524500" cy="184653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6096000" y="5422642"/>
            <a:ext cx="59055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CSIDNet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Restoration</a:t>
            </a:r>
            <a:endParaRPr dirty="0"/>
          </a:p>
        </p:txBody>
      </p:sp>
      <p:sp>
        <p:nvSpPr>
          <p:cNvPr id="249" name="Google Shape;249;p21"/>
          <p:cNvSpPr txBox="1"/>
          <p:nvPr/>
        </p:nvSpPr>
        <p:spPr>
          <a:xfrm>
            <a:off x="622458" y="5542002"/>
            <a:ext cx="458962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Color Fidelity: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CSIDNet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maintains original chromatic information without the over-saturation common in CAP or BCCR.</a:t>
            </a:r>
            <a:endParaRPr dirty="0"/>
          </a:p>
        </p:txBody>
      </p:sp>
      <p:sp>
        <p:nvSpPr>
          <p:cNvPr id="250" name="Google Shape;250;p21"/>
          <p:cNvSpPr txBox="1"/>
          <p:nvPr/>
        </p:nvSpPr>
        <p:spPr>
          <a:xfrm>
            <a:off x="6517322" y="5589695"/>
            <a:ext cx="468185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Edge Preservation: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Visual comparison shows sharper edge maintenance compared to AOD-Net blurring.</a:t>
            </a:r>
            <a:endParaRPr dirty="0"/>
          </a:p>
        </p:txBody>
      </p:sp>
      <p:sp>
        <p:nvSpPr>
          <p:cNvPr id="251" name="Google Shape;251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 COMPARISON RESULTS</a:t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394883-348F-0D8C-3A2A-8B132325D30A}"/>
              </a:ext>
            </a:extLst>
          </p:cNvPr>
          <p:cNvSpPr txBox="1"/>
          <p:nvPr/>
        </p:nvSpPr>
        <p:spPr>
          <a:xfrm>
            <a:off x="2617470" y="5333682"/>
            <a:ext cx="45504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Original Image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EFBCD8-D758-5CF4-AC1D-E315A382A3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925" y="1364811"/>
            <a:ext cx="4274773" cy="37573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119B14-EA87-3FC7-DD41-1EE3AC0E75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9494" y="1385287"/>
            <a:ext cx="4257581" cy="37573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19337" y="2876550"/>
            <a:ext cx="7553325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295275" y="1771650"/>
            <a:ext cx="116014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Any Questions?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571500" y="6410325"/>
            <a:ext cx="6096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Final Slide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11153775" y="6410325"/>
            <a:ext cx="4667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10</a:t>
            </a:r>
            <a:endParaRPr/>
          </a:p>
        </p:txBody>
      </p:sp>
      <p:pic>
        <p:nvPicPr>
          <p:cNvPr id="264" name="Google Shape;26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0" y="6572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2614612" y="3171825"/>
            <a:ext cx="731091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Project Conclusions: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3043237" y="3638550"/>
            <a:ext cx="6534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CSIDNet effectively bridges the gap between processing speed and accuracy.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3043237" y="4105275"/>
            <a:ext cx="6534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Compact 3-layer design is ideal for real-time video dehazing.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3043237" y="4572000"/>
            <a:ext cx="6534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Residual learning with DCP priors enables high fidelity with minimal parameters.</a:t>
            </a:r>
            <a:endParaRPr/>
          </a:p>
        </p:txBody>
      </p:sp>
      <p:pic>
        <p:nvPicPr>
          <p:cNvPr id="269" name="Google Shape;26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14612" y="36766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14612" y="41433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14612" y="461010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589</Words>
  <Application>Microsoft Office PowerPoint</Application>
  <PresentationFormat>Widescreen</PresentationFormat>
  <Paragraphs>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Lato</vt:lpstr>
      <vt:lpstr>Calibri</vt:lpstr>
      <vt:lpstr>Poppins SemiBold</vt:lpstr>
      <vt:lpstr>Poppins</vt:lpstr>
      <vt:lpstr>Arial</vt:lpstr>
      <vt:lpstr>Lato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Partha Sarathi Roychaudhuri</dc:creator>
  <cp:lastModifiedBy>Partha sarathi Roychaudhuri</cp:lastModifiedBy>
  <cp:revision>3</cp:revision>
  <dcterms:modified xsi:type="dcterms:W3CDTF">2026-04-20T17:38:43Z</dcterms:modified>
</cp:coreProperties>
</file>